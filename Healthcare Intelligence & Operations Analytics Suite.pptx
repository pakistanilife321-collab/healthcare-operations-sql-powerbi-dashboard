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674840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145059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PRESENTATION &amp; PROJECT SHOWCASE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68909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Healthcare Intelligence &amp; Operations Analytics Suite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98540"/>
            <a:ext cx="6762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Power BI reporting platform integrating advanced data modeling, time intelligence, and AI diagnostics.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62000" y="2686050"/>
            <a:ext cx="3352800" cy="1952625"/>
          </a:xfrm>
          <a:prstGeom prst="roundRect">
            <a:avLst>
              <a:gd fmla="val 78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419600" y="2686050"/>
            <a:ext cx="3352800" cy="1952625"/>
          </a:xfrm>
          <a:prstGeom prst="roundRect">
            <a:avLst>
              <a:gd fmla="val 78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2686050"/>
            <a:ext cx="3352800" cy="1952625"/>
          </a:xfrm>
          <a:prstGeom prst="roundRect">
            <a:avLst>
              <a:gd fmla="val 78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62000" y="2686050"/>
            <a:ext cx="38100" cy="1952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419600" y="2686050"/>
            <a:ext cx="38100" cy="1952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077200" y="2686050"/>
            <a:ext cx="38100" cy="1952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 &amp; System Scale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43000" y="3028950"/>
            <a:ext cx="34504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Scale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43000" y="338137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 20 healthcare facilities managing 20,000 registered patients and generating $3.11bn in revenue throughput.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800600" y="3028950"/>
            <a:ext cx="34504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Workload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800600" y="338137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Balancing specialized care departments with robust staffing ratios and optimized emergency response workflows.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58200" y="3028950"/>
            <a:ext cx="34504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BI Stack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58200" y="3381375"/>
            <a:ext cx="2724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Built with custom tooltips, interactive bookmarks, conditional formatting, and AI-driven diagnostic trees.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SCALE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System-Wide Active Patient Volume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038725" y="2814637"/>
            <a:ext cx="26431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20K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524125" y="4033837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registered patients distributed across regional facilities with dynamic quarter-over-quarter filtering.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5981700" y="2681287"/>
            <a:ext cx="5448300" cy="2057400"/>
          </a:xfrm>
          <a:prstGeom prst="roundRect">
            <a:avLst>
              <a:gd fmla="val 740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62000" y="2481262"/>
            <a:ext cx="4762500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62000" y="3805237"/>
            <a:ext cx="4762500" cy="1133475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DEMOGRAPHICS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Patient Analytics &amp; Chronic Conditions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324600" y="3024187"/>
            <a:ext cx="586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TOOLTIP FEATURE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324600" y="3309937"/>
            <a:ext cx="5867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Hover Cards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24600" y="37099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Hovering over any chronic condition bar instantly launches a custom report page tooltip showing real-time demographic splits and active patient counts.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90600" y="2709862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Diagnosis Volume Balance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90600" y="2986087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 distribution across none (1,131), asthma (1,116), hypertension (1,104), and diabetes (1,092).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90600" y="4033837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Parity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90600" y="4310062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Balanced patient demographic split with 50.45% male and 49.55% female participants network-wide.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76200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39415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802630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Facility Performance &amp; Drill-Throughs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6680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Staff-to-Patient Ratios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6680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Maintains a 0.05 operational baseline across cardiology, emergency, and ICU departments.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9895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Drill-Through Navigation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9895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Seamless context-aware pivoting from summary facility bars straight to granular staff rosters.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33110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Conditional Formatting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3110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color rules highlighting rating outliers in red (1–2) and green (3–5).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762000" y="2657475"/>
            <a:ext cx="5105400" cy="2105025"/>
          </a:xfrm>
          <a:prstGeom prst="roundRect">
            <a:avLst>
              <a:gd fmla="val 723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324600" y="2657475"/>
            <a:ext cx="5105400" cy="2105025"/>
          </a:xfrm>
          <a:prstGeom prst="roundRect">
            <a:avLst>
              <a:gd fmla="val 723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ANALYTICS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Intelligence &amp; Forecasting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104900" y="3343275"/>
            <a:ext cx="451485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TOTALYTD • DATEADD • SAMEPERIODLASTYEAR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667500" y="3343275"/>
            <a:ext cx="451485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Confidence Bands • Seasonality Detection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104900" y="3000375"/>
            <a:ext cx="5800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Calendar &amp; YTD Measures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104900" y="3585000"/>
            <a:ext cx="451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Built upon an active calendar date table to compute cumulative financial performance and period-over-period growth automatically via DAX.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667500" y="3000375"/>
            <a:ext cx="552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Exponential Smoothing Forecasts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667500" y="3585000"/>
            <a:ext cx="451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historical time-series trend lines with built-in forecasting confidence intervals to project patient intake and revenue trajectories.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762000" y="2800350"/>
            <a:ext cx="5181600" cy="1724025"/>
          </a:xfrm>
          <a:prstGeom prst="roundRect">
            <a:avLst>
              <a:gd fmla="val 88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248400" y="2800350"/>
            <a:ext cx="5181600" cy="1724025"/>
          </a:xfrm>
          <a:prstGeom prst="roundRect">
            <a:avLst>
              <a:gd fmla="val 88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MACHINE LEARNING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AI-Driven Diagnostics &amp; Root-Cause Analysis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104900" y="3143250"/>
            <a:ext cx="59007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Decomposition Tree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104900" y="3495675"/>
            <a:ext cx="4591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Empowers stakeholders to visually break down patient volume and satisfaction ratings across multiple categorical branches on demand.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591300" y="3143250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Influencers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91300" y="3495675"/>
            <a:ext cx="4591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Automatically uncovers what demographic and operational factors drive service ratings upward or downward with plain-language insights.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5981700" y="2833687"/>
            <a:ext cx="5448300" cy="1752600"/>
          </a:xfrm>
          <a:prstGeom prst="roundRect">
            <a:avLst>
              <a:gd fmla="val 869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62000" y="4054673"/>
            <a:ext cx="1552575" cy="323850"/>
          </a:xfrm>
          <a:prstGeom prst="roundRect">
            <a:avLst>
              <a:gd fmla="val 23529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428875" y="4054673"/>
            <a:ext cx="1533525" cy="323850"/>
          </a:xfrm>
          <a:prstGeom prst="roundRect">
            <a:avLst>
              <a:gd fmla="val 23529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EXPERIENCE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Bookmarks &amp; Guided Storytelling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3041302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Bookmarks capture exact report states—including filter settings, slicer selections, and visual visibility—allowing users to reset views instantly with a single button click.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324600" y="3176587"/>
            <a:ext cx="5867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Titles &amp; Hierarchies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324600" y="35575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chart titles adapt to user interactions while date and departmental hierarchies enable seamless drill-up and drill-down navigation.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14400" y="4130873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 View Saved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581275" y="4130873"/>
            <a:ext cx="1323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Reset State Button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76200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39415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026300" y="2909887"/>
            <a:ext cx="3403550" cy="1504950"/>
          </a:xfrm>
          <a:prstGeom prst="roundRect">
            <a:avLst>
              <a:gd fmla="val 101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DELIVERY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Impact &amp; Strategic Outcomes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6680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Efficiency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06680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Reduced reporting lag through automated data refreshes and centralized executive dashboards.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69895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Quality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9895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Pinpointed service bottlenecks via conditional formatting and root-cause decomposition trees.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331100" y="3214687"/>
            <a:ext cx="36670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Foresight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331100" y="3509962"/>
            <a:ext cx="2889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Empowered long-term planning with robust time intelligence and forecasting confidence bands.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5867400" y="4167187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524125" y="3386137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reviewing the Healthcare Intelligence &amp; Operations Analytics Suite.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